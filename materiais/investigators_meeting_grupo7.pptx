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grandir" charset="1" panose="00000500000000000000"/>
      <p:regular r:id="rId16"/>
    </p:embeddedFont>
    <p:embeddedFont>
      <p:font typeface="Agrandir Medium" charset="1" panose="00000600000000000000"/>
      <p:regular r:id="rId17"/>
    </p:embeddedFont>
    <p:embeddedFont>
      <p:font typeface="Futura" charset="1" panose="020B0502020204020303"/>
      <p:regular r:id="rId18"/>
    </p:embeddedFont>
    <p:embeddedFont>
      <p:font typeface="Agrandir Bold" charset="1" panose="00000800000000000000"/>
      <p:regular r:id="rId19"/>
    </p:embeddedFont>
    <p:embeddedFont>
      <p:font typeface="Futura Bold Italics" charset="1" panose="020B0702020204090203"/>
      <p:regular r:id="rId20"/>
    </p:embeddedFont>
    <p:embeddedFont>
      <p:font typeface="Futura Bold" charset="1" panose="020B0702020204020203"/>
      <p:regular r:id="rId21"/>
    </p:embeddedFont>
    <p:embeddedFont>
      <p:font typeface="Arimo" charset="1" panose="020B06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png" Type="http://schemas.openxmlformats.org/officeDocument/2006/relationships/image"/><Relationship Id="rId5" Target="https://joanateixeiraa.github.io/RespiRA_site/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png" Type="http://schemas.openxmlformats.org/officeDocument/2006/relationships/image"/><Relationship Id="rId5" Target="https://www.figma.com/design/IWmuWSqPlOIPMdWbxvlKT8/APP-RespiRA?node-id=0-1&amp;m=dev&amp;t=5FbMRS4Xi6Lhgsz1-1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86866" y="-1045091"/>
            <a:ext cx="3560238" cy="2796405"/>
          </a:xfrm>
          <a:custGeom>
            <a:avLst/>
            <a:gdLst/>
            <a:ahLst/>
            <a:cxnLst/>
            <a:rect r="r" b="b" t="t" l="l"/>
            <a:pathLst>
              <a:path h="2796405" w="3560238">
                <a:moveTo>
                  <a:pt x="0" y="0"/>
                </a:moveTo>
                <a:lnTo>
                  <a:pt x="3560238" y="0"/>
                </a:lnTo>
                <a:lnTo>
                  <a:pt x="3560238" y="2796405"/>
                </a:lnTo>
                <a:lnTo>
                  <a:pt x="0" y="2796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87139" y="-261015"/>
            <a:ext cx="4126202" cy="10809030"/>
            <a:chOff x="0" y="0"/>
            <a:chExt cx="849013" cy="2224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9013" cy="2224080"/>
            </a:xfrm>
            <a:custGeom>
              <a:avLst/>
              <a:gdLst/>
              <a:ahLst/>
              <a:cxnLst/>
              <a:rect r="r" b="b" t="t" l="l"/>
              <a:pathLst>
                <a:path h="2224080" w="849013">
                  <a:moveTo>
                    <a:pt x="36646" y="0"/>
                  </a:moveTo>
                  <a:lnTo>
                    <a:pt x="812367" y="0"/>
                  </a:lnTo>
                  <a:cubicBezTo>
                    <a:pt x="822086" y="0"/>
                    <a:pt x="831407" y="3861"/>
                    <a:pt x="838279" y="10733"/>
                  </a:cubicBezTo>
                  <a:cubicBezTo>
                    <a:pt x="845152" y="17606"/>
                    <a:pt x="849013" y="26927"/>
                    <a:pt x="849013" y="36646"/>
                  </a:cubicBezTo>
                  <a:lnTo>
                    <a:pt x="849013" y="2187434"/>
                  </a:lnTo>
                  <a:cubicBezTo>
                    <a:pt x="849013" y="2197153"/>
                    <a:pt x="845152" y="2206474"/>
                    <a:pt x="838279" y="2213347"/>
                  </a:cubicBezTo>
                  <a:cubicBezTo>
                    <a:pt x="831407" y="2220219"/>
                    <a:pt x="822086" y="2224080"/>
                    <a:pt x="812367" y="2224080"/>
                  </a:cubicBezTo>
                  <a:lnTo>
                    <a:pt x="36646" y="2224080"/>
                  </a:lnTo>
                  <a:cubicBezTo>
                    <a:pt x="26927" y="2224080"/>
                    <a:pt x="17606" y="2220219"/>
                    <a:pt x="10733" y="2213347"/>
                  </a:cubicBezTo>
                  <a:cubicBezTo>
                    <a:pt x="3861" y="2206474"/>
                    <a:pt x="0" y="2197153"/>
                    <a:pt x="0" y="2187434"/>
                  </a:cubicBezTo>
                  <a:lnTo>
                    <a:pt x="0" y="36646"/>
                  </a:lnTo>
                  <a:cubicBezTo>
                    <a:pt x="0" y="26927"/>
                    <a:pt x="3861" y="17606"/>
                    <a:pt x="10733" y="10733"/>
                  </a:cubicBezTo>
                  <a:cubicBezTo>
                    <a:pt x="17606" y="3861"/>
                    <a:pt x="26927" y="0"/>
                    <a:pt x="3664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82EC">
                    <a:alpha val="100000"/>
                  </a:srgbClr>
                </a:gs>
                <a:gs pos="50000">
                  <a:srgbClr val="4832CC">
                    <a:alpha val="100000"/>
                  </a:srgbClr>
                </a:gs>
                <a:gs pos="100000">
                  <a:srgbClr val="19A7F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849013" cy="2319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10258" y="1250244"/>
            <a:ext cx="5703082" cy="57030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2463" t="0" r="-22463" b="0"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702996" y="8076811"/>
            <a:ext cx="1270783" cy="3659324"/>
          </a:xfrm>
          <a:custGeom>
            <a:avLst/>
            <a:gdLst/>
            <a:ahLst/>
            <a:cxnLst/>
            <a:rect r="r" b="b" t="t" l="l"/>
            <a:pathLst>
              <a:path h="3659324" w="1270783">
                <a:moveTo>
                  <a:pt x="0" y="0"/>
                </a:moveTo>
                <a:lnTo>
                  <a:pt x="1270783" y="0"/>
                </a:lnTo>
                <a:lnTo>
                  <a:pt x="1270783" y="3659323"/>
                </a:lnTo>
                <a:lnTo>
                  <a:pt x="0" y="36593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398049" y="4632414"/>
            <a:ext cx="4403529" cy="440352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4931" t="0" r="-24931" b="0"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AutoShape 11" id="11"/>
          <p:cNvSpPr/>
          <p:nvPr/>
        </p:nvSpPr>
        <p:spPr>
          <a:xfrm>
            <a:off x="1332428" y="8730813"/>
            <a:ext cx="49721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7801579" y="-425459"/>
            <a:ext cx="1213501" cy="121350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191606" y="9229955"/>
            <a:ext cx="1318060" cy="131806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49314" y="5961132"/>
            <a:ext cx="1088295" cy="108829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5400000">
            <a:off x="8716443" y="6328261"/>
            <a:ext cx="354037" cy="354037"/>
          </a:xfrm>
          <a:custGeom>
            <a:avLst/>
            <a:gdLst/>
            <a:ahLst/>
            <a:cxnLst/>
            <a:rect r="r" b="b" t="t" l="l"/>
            <a:pathLst>
              <a:path h="354037" w="354037">
                <a:moveTo>
                  <a:pt x="0" y="0"/>
                </a:moveTo>
                <a:lnTo>
                  <a:pt x="354037" y="0"/>
                </a:lnTo>
                <a:lnTo>
                  <a:pt x="354037" y="354037"/>
                </a:lnTo>
                <a:lnTo>
                  <a:pt x="0" y="3540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26453" y="1028700"/>
            <a:ext cx="2223374" cy="1061910"/>
          </a:xfrm>
          <a:custGeom>
            <a:avLst/>
            <a:gdLst/>
            <a:ahLst/>
            <a:cxnLst/>
            <a:rect r="r" b="b" t="t" l="l"/>
            <a:pathLst>
              <a:path h="1061910" w="2223374">
                <a:moveTo>
                  <a:pt x="0" y="0"/>
                </a:moveTo>
                <a:lnTo>
                  <a:pt x="2223374" y="0"/>
                </a:lnTo>
                <a:lnTo>
                  <a:pt x="2223374" y="1061910"/>
                </a:lnTo>
                <a:lnTo>
                  <a:pt x="0" y="10619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92084" y="4496840"/>
            <a:ext cx="7851916" cy="1216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0"/>
              </a:lnSpc>
            </a:pPr>
            <a:r>
              <a:rPr lang="en-US" sz="61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App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2084" y="2403452"/>
            <a:ext cx="6433615" cy="2416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5"/>
              </a:lnSpc>
            </a:pPr>
            <a:r>
              <a:rPr lang="en-US" sz="12096" b="true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RespiRA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2428" y="6024935"/>
            <a:ext cx="5715304" cy="552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8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UC Ferramentas de Produtividade</a:t>
            </a:r>
          </a:p>
          <a:p>
            <a:pPr algn="l">
              <a:lnSpc>
                <a:spcPts val="2088"/>
              </a:lnSpc>
            </a:pPr>
            <a:r>
              <a:rPr lang="en-US" sz="18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Grupo 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2428" y="8375085"/>
            <a:ext cx="5715304" cy="235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4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Joana Teixeira, Mafalda Correia, Rafael Batista, Rodrigo Freitas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84898" y="-87136"/>
            <a:ext cx="2189666" cy="10809030"/>
            <a:chOff x="0" y="0"/>
            <a:chExt cx="450549" cy="2224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549" cy="2224080"/>
            </a:xfrm>
            <a:custGeom>
              <a:avLst/>
              <a:gdLst/>
              <a:ahLst/>
              <a:cxnLst/>
              <a:rect r="r" b="b" t="t" l="l"/>
              <a:pathLst>
                <a:path h="2224080" w="450549">
                  <a:moveTo>
                    <a:pt x="69056" y="0"/>
                  </a:moveTo>
                  <a:lnTo>
                    <a:pt x="381493" y="0"/>
                  </a:lnTo>
                  <a:cubicBezTo>
                    <a:pt x="399807" y="0"/>
                    <a:pt x="417372" y="7276"/>
                    <a:pt x="430323" y="20226"/>
                  </a:cubicBezTo>
                  <a:cubicBezTo>
                    <a:pt x="443273" y="33176"/>
                    <a:pt x="450549" y="50741"/>
                    <a:pt x="450549" y="69056"/>
                  </a:cubicBezTo>
                  <a:lnTo>
                    <a:pt x="450549" y="2155024"/>
                  </a:lnTo>
                  <a:cubicBezTo>
                    <a:pt x="450549" y="2173339"/>
                    <a:pt x="443273" y="2190904"/>
                    <a:pt x="430323" y="2203854"/>
                  </a:cubicBezTo>
                  <a:cubicBezTo>
                    <a:pt x="417372" y="2216805"/>
                    <a:pt x="399807" y="2224080"/>
                    <a:pt x="381493" y="2224080"/>
                  </a:cubicBezTo>
                  <a:lnTo>
                    <a:pt x="69056" y="2224080"/>
                  </a:lnTo>
                  <a:cubicBezTo>
                    <a:pt x="50741" y="2224080"/>
                    <a:pt x="33176" y="2216805"/>
                    <a:pt x="20226" y="2203854"/>
                  </a:cubicBezTo>
                  <a:cubicBezTo>
                    <a:pt x="7276" y="2190904"/>
                    <a:pt x="0" y="2173339"/>
                    <a:pt x="0" y="2155024"/>
                  </a:cubicBezTo>
                  <a:lnTo>
                    <a:pt x="0" y="69056"/>
                  </a:lnTo>
                  <a:cubicBezTo>
                    <a:pt x="0" y="50741"/>
                    <a:pt x="7276" y="33176"/>
                    <a:pt x="20226" y="20226"/>
                  </a:cubicBezTo>
                  <a:cubicBezTo>
                    <a:pt x="33176" y="7276"/>
                    <a:pt x="50741" y="0"/>
                    <a:pt x="690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82EC">
                    <a:alpha val="100000"/>
                  </a:srgbClr>
                </a:gs>
                <a:gs pos="50000">
                  <a:srgbClr val="4832CC">
                    <a:alpha val="100000"/>
                  </a:srgbClr>
                </a:gs>
                <a:gs pos="100000">
                  <a:srgbClr val="19A7F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450549" cy="2319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77900" y="1028700"/>
            <a:ext cx="5183193" cy="8229600"/>
            <a:chOff x="0" y="0"/>
            <a:chExt cx="1388494" cy="2204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8494" cy="2204577"/>
            </a:xfrm>
            <a:custGeom>
              <a:avLst/>
              <a:gdLst/>
              <a:ahLst/>
              <a:cxnLst/>
              <a:rect r="r" b="b" t="t" l="l"/>
              <a:pathLst>
                <a:path h="2204577" w="1388494">
                  <a:moveTo>
                    <a:pt x="22405" y="0"/>
                  </a:moveTo>
                  <a:lnTo>
                    <a:pt x="1366089" y="0"/>
                  </a:lnTo>
                  <a:cubicBezTo>
                    <a:pt x="1378463" y="0"/>
                    <a:pt x="1388494" y="10031"/>
                    <a:pt x="1388494" y="22405"/>
                  </a:cubicBezTo>
                  <a:lnTo>
                    <a:pt x="1388494" y="2182172"/>
                  </a:lnTo>
                  <a:cubicBezTo>
                    <a:pt x="1388494" y="2188114"/>
                    <a:pt x="1386133" y="2193813"/>
                    <a:pt x="1381932" y="2198015"/>
                  </a:cubicBezTo>
                  <a:cubicBezTo>
                    <a:pt x="1377730" y="2202216"/>
                    <a:pt x="1372031" y="2204577"/>
                    <a:pt x="1366089" y="2204577"/>
                  </a:cubicBezTo>
                  <a:lnTo>
                    <a:pt x="22405" y="2204577"/>
                  </a:lnTo>
                  <a:cubicBezTo>
                    <a:pt x="10031" y="2204577"/>
                    <a:pt x="0" y="2194546"/>
                    <a:pt x="0" y="2182172"/>
                  </a:cubicBezTo>
                  <a:lnTo>
                    <a:pt x="0" y="22405"/>
                  </a:lnTo>
                  <a:cubicBezTo>
                    <a:pt x="0" y="16463"/>
                    <a:pt x="2361" y="10764"/>
                    <a:pt x="6562" y="6562"/>
                  </a:cubicBezTo>
                  <a:cubicBezTo>
                    <a:pt x="10764" y="2361"/>
                    <a:pt x="16463" y="0"/>
                    <a:pt x="22405" y="0"/>
                  </a:cubicBezTo>
                  <a:close/>
                </a:path>
              </a:pathLst>
            </a:custGeom>
            <a:blipFill>
              <a:blip r:embed="rId2"/>
              <a:stretch>
                <a:fillRect l="-69829" t="0" r="-6982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560920" y="-425459"/>
            <a:ext cx="1454159" cy="145415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91606" y="8752369"/>
            <a:ext cx="1795646" cy="179564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756727" y="8657781"/>
            <a:ext cx="1088295" cy="108829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5400000">
            <a:off x="15123856" y="9024910"/>
            <a:ext cx="354037" cy="354037"/>
          </a:xfrm>
          <a:custGeom>
            <a:avLst/>
            <a:gdLst/>
            <a:ahLst/>
            <a:cxnLst/>
            <a:rect r="r" b="b" t="t" l="l"/>
            <a:pathLst>
              <a:path h="354037" w="354037">
                <a:moveTo>
                  <a:pt x="0" y="0"/>
                </a:moveTo>
                <a:lnTo>
                  <a:pt x="354037" y="0"/>
                </a:lnTo>
                <a:lnTo>
                  <a:pt x="354037" y="354037"/>
                </a:lnTo>
                <a:lnTo>
                  <a:pt x="0" y="354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44391" y="2104554"/>
            <a:ext cx="10824058" cy="664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A asma é uma doença inflamatória crónica das vias aéreas, associada a sintomas recorrentes, exacerbações, limitação funcional e utilização relevante de recursos de saúde</a:t>
            </a:r>
          </a:p>
          <a:p>
            <a:pPr algn="ctr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Apesar da existência de terapêuticas eficazes, muitos doentes mantêm um controlo inadequado da doença, frequentemente devido à baixa adesão à medicação, técnica inalatória incorreta e monitorização irregular dos sintomas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44391" y="904875"/>
            <a:ext cx="696753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CONTEXTO CLÍNICO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54" y="-261015"/>
            <a:ext cx="2189666" cy="10809030"/>
            <a:chOff x="0" y="0"/>
            <a:chExt cx="450549" cy="2224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549" cy="2224080"/>
            </a:xfrm>
            <a:custGeom>
              <a:avLst/>
              <a:gdLst/>
              <a:ahLst/>
              <a:cxnLst/>
              <a:rect r="r" b="b" t="t" l="l"/>
              <a:pathLst>
                <a:path h="2224080" w="450549">
                  <a:moveTo>
                    <a:pt x="69056" y="0"/>
                  </a:moveTo>
                  <a:lnTo>
                    <a:pt x="381493" y="0"/>
                  </a:lnTo>
                  <a:cubicBezTo>
                    <a:pt x="399807" y="0"/>
                    <a:pt x="417372" y="7276"/>
                    <a:pt x="430323" y="20226"/>
                  </a:cubicBezTo>
                  <a:cubicBezTo>
                    <a:pt x="443273" y="33176"/>
                    <a:pt x="450549" y="50741"/>
                    <a:pt x="450549" y="69056"/>
                  </a:cubicBezTo>
                  <a:lnTo>
                    <a:pt x="450549" y="2155024"/>
                  </a:lnTo>
                  <a:cubicBezTo>
                    <a:pt x="450549" y="2173339"/>
                    <a:pt x="443273" y="2190904"/>
                    <a:pt x="430323" y="2203854"/>
                  </a:cubicBezTo>
                  <a:cubicBezTo>
                    <a:pt x="417372" y="2216805"/>
                    <a:pt x="399807" y="2224080"/>
                    <a:pt x="381493" y="2224080"/>
                  </a:cubicBezTo>
                  <a:lnTo>
                    <a:pt x="69056" y="2224080"/>
                  </a:lnTo>
                  <a:cubicBezTo>
                    <a:pt x="50741" y="2224080"/>
                    <a:pt x="33176" y="2216805"/>
                    <a:pt x="20226" y="2203854"/>
                  </a:cubicBezTo>
                  <a:cubicBezTo>
                    <a:pt x="7276" y="2190904"/>
                    <a:pt x="0" y="2173339"/>
                    <a:pt x="0" y="2155024"/>
                  </a:cubicBezTo>
                  <a:lnTo>
                    <a:pt x="0" y="69056"/>
                  </a:lnTo>
                  <a:cubicBezTo>
                    <a:pt x="0" y="50741"/>
                    <a:pt x="7276" y="33176"/>
                    <a:pt x="20226" y="20226"/>
                  </a:cubicBezTo>
                  <a:cubicBezTo>
                    <a:pt x="33176" y="7276"/>
                    <a:pt x="50741" y="0"/>
                    <a:pt x="690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82EC">
                    <a:alpha val="100000"/>
                  </a:srgbClr>
                </a:gs>
                <a:gs pos="50000">
                  <a:srgbClr val="4832CC">
                    <a:alpha val="100000"/>
                  </a:srgbClr>
                </a:gs>
                <a:gs pos="100000">
                  <a:srgbClr val="19A7F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450549" cy="2319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60920" y="-425459"/>
            <a:ext cx="1454159" cy="145415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1606" y="8752369"/>
            <a:ext cx="1795646" cy="179564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16773" y="8935183"/>
            <a:ext cx="1088295" cy="108829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17383902" y="9302312"/>
            <a:ext cx="354037" cy="354037"/>
          </a:xfrm>
          <a:custGeom>
            <a:avLst/>
            <a:gdLst/>
            <a:ahLst/>
            <a:cxnLst/>
            <a:rect r="r" b="b" t="t" l="l"/>
            <a:pathLst>
              <a:path h="354037" w="354037">
                <a:moveTo>
                  <a:pt x="0" y="0"/>
                </a:moveTo>
                <a:lnTo>
                  <a:pt x="354037" y="0"/>
                </a:lnTo>
                <a:lnTo>
                  <a:pt x="354037" y="354037"/>
                </a:lnTo>
                <a:lnTo>
                  <a:pt x="0" y="35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44391" y="904875"/>
            <a:ext cx="1042106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Estudo do cenário clínico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2106" y="1972788"/>
            <a:ext cx="11937691" cy="11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1"/>
              </a:lnSpc>
            </a:pPr>
            <a:r>
              <a:rPr lang="en-US" sz="3187">
                <a:solidFill>
                  <a:srgbClr val="BF5555"/>
                </a:solidFill>
                <a:latin typeface="Futura"/>
                <a:ea typeface="Futura"/>
                <a:cs typeface="Futura"/>
                <a:sym typeface="Futura"/>
              </a:rPr>
              <a:t>A utilização de aplicação RespiRA melhora o controlo da asma às 12 semanas, comparativamente ao cuidado habitual isolado?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2106" y="3663235"/>
            <a:ext cx="13599626" cy="559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2846" i="true" b="true">
                <a:solidFill>
                  <a:srgbClr val="1C1C1C"/>
                </a:solidFill>
                <a:latin typeface="Futura Bold Italics"/>
                <a:ea typeface="Futura Bold Italics"/>
                <a:cs typeface="Futura Bold Italics"/>
                <a:sym typeface="Futura Bold Italics"/>
              </a:rPr>
              <a:t>Outcome primário:</a:t>
            </a:r>
          </a:p>
          <a:p>
            <a:pPr algn="l">
              <a:lnSpc>
                <a:spcPts val="3985"/>
              </a:lnSpc>
            </a:pPr>
            <a:r>
              <a:rPr lang="en-US" sz="2846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 Controlo da asma às 12 semanas, medido através do Asthma Control Test (ACT)</a:t>
            </a:r>
          </a:p>
          <a:p>
            <a:pPr algn="l">
              <a:lnSpc>
                <a:spcPts val="3985"/>
              </a:lnSpc>
            </a:pPr>
          </a:p>
          <a:p>
            <a:pPr algn="l">
              <a:lnSpc>
                <a:spcPts val="3985"/>
              </a:lnSpc>
            </a:pPr>
            <a:r>
              <a:rPr lang="en-US" sz="2846" i="true" b="true">
                <a:solidFill>
                  <a:srgbClr val="1C1C1C"/>
                </a:solidFill>
                <a:latin typeface="Futura Bold Italics"/>
                <a:ea typeface="Futura Bold Italics"/>
                <a:cs typeface="Futura Bold Italics"/>
                <a:sym typeface="Futura Bold Italics"/>
              </a:rPr>
              <a:t>Outcomes secundários:</a:t>
            </a:r>
          </a:p>
          <a:p>
            <a:pPr algn="l">
              <a:lnSpc>
                <a:spcPts val="3985"/>
              </a:lnSpc>
            </a:pPr>
            <a:r>
              <a:rPr lang="en-US" sz="2846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 • Evolução dos valores de Peak Flow ao longo das 12 semanas</a:t>
            </a:r>
          </a:p>
          <a:p>
            <a:pPr algn="l">
              <a:lnSpc>
                <a:spcPts val="3985"/>
              </a:lnSpc>
            </a:pPr>
            <a:r>
              <a:rPr lang="en-US" sz="2846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 • Número de exacerbações clínicas durante o estudo</a:t>
            </a:r>
          </a:p>
          <a:p>
            <a:pPr algn="l">
              <a:lnSpc>
                <a:spcPts val="3985"/>
              </a:lnSpc>
            </a:pPr>
            <a:r>
              <a:rPr lang="en-US" sz="2846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 • Adesão à medicação inalatória prescrita</a:t>
            </a:r>
          </a:p>
          <a:p>
            <a:pPr algn="l">
              <a:lnSpc>
                <a:spcPts val="3985"/>
              </a:lnSpc>
            </a:pPr>
            <a:r>
              <a:rPr lang="en-US" sz="2846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 • Qualidade de vida relacionada com a asma, medida pelo AQLQ</a:t>
            </a:r>
          </a:p>
          <a:p>
            <a:pPr algn="l">
              <a:lnSpc>
                <a:spcPts val="3985"/>
              </a:lnSpc>
            </a:pPr>
            <a:r>
              <a:rPr lang="en-US" sz="2846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 • Número de idas à urgência por agravamento da asma</a:t>
            </a:r>
          </a:p>
          <a:p>
            <a:pPr algn="l">
              <a:lnSpc>
                <a:spcPts val="3985"/>
              </a:lnSpc>
            </a:pPr>
            <a:r>
              <a:rPr lang="en-US" sz="2846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 • Satisfação dos participantes com os cuidados de saúde recebidos</a:t>
            </a:r>
          </a:p>
          <a:p>
            <a:pPr algn="l">
              <a:lnSpc>
                <a:spcPts val="398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87139" y="-261015"/>
            <a:ext cx="4126202" cy="10809030"/>
            <a:chOff x="0" y="0"/>
            <a:chExt cx="849013" cy="2224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9013" cy="2224080"/>
            </a:xfrm>
            <a:custGeom>
              <a:avLst/>
              <a:gdLst/>
              <a:ahLst/>
              <a:cxnLst/>
              <a:rect r="r" b="b" t="t" l="l"/>
              <a:pathLst>
                <a:path h="2224080" w="849013">
                  <a:moveTo>
                    <a:pt x="36646" y="0"/>
                  </a:moveTo>
                  <a:lnTo>
                    <a:pt x="812367" y="0"/>
                  </a:lnTo>
                  <a:cubicBezTo>
                    <a:pt x="822086" y="0"/>
                    <a:pt x="831407" y="3861"/>
                    <a:pt x="838279" y="10733"/>
                  </a:cubicBezTo>
                  <a:cubicBezTo>
                    <a:pt x="845152" y="17606"/>
                    <a:pt x="849013" y="26927"/>
                    <a:pt x="849013" y="36646"/>
                  </a:cubicBezTo>
                  <a:lnTo>
                    <a:pt x="849013" y="2187434"/>
                  </a:lnTo>
                  <a:cubicBezTo>
                    <a:pt x="849013" y="2197153"/>
                    <a:pt x="845152" y="2206474"/>
                    <a:pt x="838279" y="2213347"/>
                  </a:cubicBezTo>
                  <a:cubicBezTo>
                    <a:pt x="831407" y="2220219"/>
                    <a:pt x="822086" y="2224080"/>
                    <a:pt x="812367" y="2224080"/>
                  </a:cubicBezTo>
                  <a:lnTo>
                    <a:pt x="36646" y="2224080"/>
                  </a:lnTo>
                  <a:cubicBezTo>
                    <a:pt x="26927" y="2224080"/>
                    <a:pt x="17606" y="2220219"/>
                    <a:pt x="10733" y="2213347"/>
                  </a:cubicBezTo>
                  <a:cubicBezTo>
                    <a:pt x="3861" y="2206474"/>
                    <a:pt x="0" y="2197153"/>
                    <a:pt x="0" y="2187434"/>
                  </a:cubicBezTo>
                  <a:lnTo>
                    <a:pt x="0" y="36646"/>
                  </a:lnTo>
                  <a:cubicBezTo>
                    <a:pt x="0" y="26927"/>
                    <a:pt x="3861" y="17606"/>
                    <a:pt x="10733" y="10733"/>
                  </a:cubicBezTo>
                  <a:cubicBezTo>
                    <a:pt x="17606" y="3861"/>
                    <a:pt x="26927" y="0"/>
                    <a:pt x="3664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82EC">
                    <a:alpha val="100000"/>
                  </a:srgbClr>
                </a:gs>
                <a:gs pos="50000">
                  <a:srgbClr val="4832CC">
                    <a:alpha val="100000"/>
                  </a:srgbClr>
                </a:gs>
                <a:gs pos="100000">
                  <a:srgbClr val="19A7F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49013" cy="2319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45600" y="5244050"/>
            <a:ext cx="7505700" cy="4014250"/>
            <a:chOff x="0" y="0"/>
            <a:chExt cx="1563691" cy="8363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63691" cy="836304"/>
            </a:xfrm>
            <a:custGeom>
              <a:avLst/>
              <a:gdLst/>
              <a:ahLst/>
              <a:cxnLst/>
              <a:rect r="r" b="b" t="t" l="l"/>
              <a:pathLst>
                <a:path h="836304" w="1563691">
                  <a:moveTo>
                    <a:pt x="15472" y="0"/>
                  </a:moveTo>
                  <a:lnTo>
                    <a:pt x="1548219" y="0"/>
                  </a:lnTo>
                  <a:cubicBezTo>
                    <a:pt x="1552322" y="0"/>
                    <a:pt x="1556257" y="1630"/>
                    <a:pt x="1559159" y="4532"/>
                  </a:cubicBezTo>
                  <a:cubicBezTo>
                    <a:pt x="1562061" y="7433"/>
                    <a:pt x="1563691" y="11369"/>
                    <a:pt x="1563691" y="15472"/>
                  </a:cubicBezTo>
                  <a:lnTo>
                    <a:pt x="1563691" y="820832"/>
                  </a:lnTo>
                  <a:cubicBezTo>
                    <a:pt x="1563691" y="824935"/>
                    <a:pt x="1562061" y="828871"/>
                    <a:pt x="1559159" y="831772"/>
                  </a:cubicBezTo>
                  <a:cubicBezTo>
                    <a:pt x="1556257" y="834674"/>
                    <a:pt x="1552322" y="836304"/>
                    <a:pt x="1548219" y="836304"/>
                  </a:cubicBezTo>
                  <a:lnTo>
                    <a:pt x="15472" y="836304"/>
                  </a:lnTo>
                  <a:cubicBezTo>
                    <a:pt x="11369" y="836304"/>
                    <a:pt x="7433" y="834674"/>
                    <a:pt x="4532" y="831772"/>
                  </a:cubicBezTo>
                  <a:cubicBezTo>
                    <a:pt x="1630" y="828871"/>
                    <a:pt x="0" y="824935"/>
                    <a:pt x="0" y="820832"/>
                  </a:cubicBezTo>
                  <a:lnTo>
                    <a:pt x="0" y="15472"/>
                  </a:lnTo>
                  <a:cubicBezTo>
                    <a:pt x="0" y="11369"/>
                    <a:pt x="1630" y="7433"/>
                    <a:pt x="4532" y="4532"/>
                  </a:cubicBezTo>
                  <a:cubicBezTo>
                    <a:pt x="7433" y="1630"/>
                    <a:pt x="11369" y="0"/>
                    <a:pt x="154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286" r="0" b="-1228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45600" y="1028700"/>
            <a:ext cx="7505700" cy="4014250"/>
            <a:chOff x="0" y="0"/>
            <a:chExt cx="1563691" cy="8363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3691" cy="836304"/>
            </a:xfrm>
            <a:custGeom>
              <a:avLst/>
              <a:gdLst/>
              <a:ahLst/>
              <a:cxnLst/>
              <a:rect r="r" b="b" t="t" l="l"/>
              <a:pathLst>
                <a:path h="836304" w="1563691">
                  <a:moveTo>
                    <a:pt x="15472" y="0"/>
                  </a:moveTo>
                  <a:lnTo>
                    <a:pt x="1548219" y="0"/>
                  </a:lnTo>
                  <a:cubicBezTo>
                    <a:pt x="1552322" y="0"/>
                    <a:pt x="1556257" y="1630"/>
                    <a:pt x="1559159" y="4532"/>
                  </a:cubicBezTo>
                  <a:cubicBezTo>
                    <a:pt x="1562061" y="7433"/>
                    <a:pt x="1563691" y="11369"/>
                    <a:pt x="1563691" y="15472"/>
                  </a:cubicBezTo>
                  <a:lnTo>
                    <a:pt x="1563691" y="820832"/>
                  </a:lnTo>
                  <a:cubicBezTo>
                    <a:pt x="1563691" y="824935"/>
                    <a:pt x="1562061" y="828871"/>
                    <a:pt x="1559159" y="831772"/>
                  </a:cubicBezTo>
                  <a:cubicBezTo>
                    <a:pt x="1556257" y="834674"/>
                    <a:pt x="1552322" y="836304"/>
                    <a:pt x="1548219" y="836304"/>
                  </a:cubicBezTo>
                  <a:lnTo>
                    <a:pt x="15472" y="836304"/>
                  </a:lnTo>
                  <a:cubicBezTo>
                    <a:pt x="11369" y="836304"/>
                    <a:pt x="7433" y="834674"/>
                    <a:pt x="4532" y="831772"/>
                  </a:cubicBezTo>
                  <a:cubicBezTo>
                    <a:pt x="1630" y="828871"/>
                    <a:pt x="0" y="824935"/>
                    <a:pt x="0" y="820832"/>
                  </a:cubicBezTo>
                  <a:lnTo>
                    <a:pt x="0" y="15472"/>
                  </a:lnTo>
                  <a:cubicBezTo>
                    <a:pt x="0" y="11369"/>
                    <a:pt x="1630" y="7433"/>
                    <a:pt x="4532" y="4532"/>
                  </a:cubicBezTo>
                  <a:cubicBezTo>
                    <a:pt x="7433" y="1630"/>
                    <a:pt x="11369" y="0"/>
                    <a:pt x="1547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2382" r="0" b="-1238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1988661"/>
            <a:ext cx="7679157" cy="5819924"/>
            <a:chOff x="0" y="0"/>
            <a:chExt cx="1073788" cy="8138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3788" cy="813809"/>
            </a:xfrm>
            <a:custGeom>
              <a:avLst/>
              <a:gdLst/>
              <a:ahLst/>
              <a:cxnLst/>
              <a:rect r="r" b="b" t="t" l="l"/>
              <a:pathLst>
                <a:path h="813809" w="1073788">
                  <a:moveTo>
                    <a:pt x="19691" y="0"/>
                  </a:moveTo>
                  <a:lnTo>
                    <a:pt x="1054097" y="0"/>
                  </a:lnTo>
                  <a:cubicBezTo>
                    <a:pt x="1064972" y="0"/>
                    <a:pt x="1073788" y="8816"/>
                    <a:pt x="1073788" y="19691"/>
                  </a:cubicBezTo>
                  <a:lnTo>
                    <a:pt x="1073788" y="794118"/>
                  </a:lnTo>
                  <a:cubicBezTo>
                    <a:pt x="1073788" y="804993"/>
                    <a:pt x="1064972" y="813809"/>
                    <a:pt x="1054097" y="813809"/>
                  </a:cubicBezTo>
                  <a:lnTo>
                    <a:pt x="19691" y="813809"/>
                  </a:lnTo>
                  <a:cubicBezTo>
                    <a:pt x="8816" y="813809"/>
                    <a:pt x="0" y="804993"/>
                    <a:pt x="0" y="794118"/>
                  </a:cubicBezTo>
                  <a:lnTo>
                    <a:pt x="0" y="19691"/>
                  </a:lnTo>
                  <a:cubicBezTo>
                    <a:pt x="0" y="8816"/>
                    <a:pt x="8816" y="0"/>
                    <a:pt x="1969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073788" cy="909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560920" y="-425459"/>
            <a:ext cx="1454159" cy="14541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191606" y="8484752"/>
            <a:ext cx="2063263" cy="206326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384331" y="8681944"/>
            <a:ext cx="1088295" cy="108829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5400000">
            <a:off x="15751460" y="9049073"/>
            <a:ext cx="354037" cy="354037"/>
          </a:xfrm>
          <a:custGeom>
            <a:avLst/>
            <a:gdLst/>
            <a:ahLst/>
            <a:cxnLst/>
            <a:rect r="r" b="b" t="t" l="l"/>
            <a:pathLst>
              <a:path h="354037" w="354037">
                <a:moveTo>
                  <a:pt x="0" y="0"/>
                </a:moveTo>
                <a:lnTo>
                  <a:pt x="354037" y="0"/>
                </a:lnTo>
                <a:lnTo>
                  <a:pt x="354037" y="354036"/>
                </a:lnTo>
                <a:lnTo>
                  <a:pt x="0" y="3540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904875"/>
            <a:ext cx="557939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Desenho do ensaio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3434" y="2185903"/>
            <a:ext cx="6889689" cy="524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Ensaio clínico randomizado</a:t>
            </a:r>
            <a:r>
              <a:rPr lang="en-US" sz="2299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, controlado, paralelo.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Randomização 1:1.</a:t>
            </a:r>
          </a:p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Duração: </a:t>
            </a:r>
            <a:r>
              <a:rPr lang="en-US" sz="2299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12 semanas</a:t>
            </a:r>
          </a:p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População:</a:t>
            </a:r>
            <a:r>
              <a:rPr lang="en-US" sz="2299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 Adultos entre os 18 e 65 anos com asma moderada persistente, em seguimento nos cuidados primários há pelo menos 6 meses. Com terapêutica controladora estável nas 4 semanas anteriores à inclusão.</a:t>
            </a:r>
          </a:p>
          <a:p>
            <a:pPr algn="l">
              <a:lnSpc>
                <a:spcPts val="4139"/>
              </a:lnSpc>
            </a:pPr>
            <a:r>
              <a:rPr lang="en-US" sz="2299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Amostra piloto: </a:t>
            </a:r>
            <a:r>
              <a:rPr lang="en-US" sz="2299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30 participantes, 15 em cada grupo</a:t>
            </a:r>
          </a:p>
          <a:p>
            <a:pPr algn="l">
              <a:lnSpc>
                <a:spcPts val="413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60920" y="-425459"/>
            <a:ext cx="1454159" cy="145415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91606" y="8752369"/>
            <a:ext cx="1795646" cy="179564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72626" y="8165076"/>
            <a:ext cx="1088295" cy="108829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16839755" y="8532204"/>
            <a:ext cx="354037" cy="354037"/>
          </a:xfrm>
          <a:custGeom>
            <a:avLst/>
            <a:gdLst/>
            <a:ahLst/>
            <a:cxnLst/>
            <a:rect r="r" b="b" t="t" l="l"/>
            <a:pathLst>
              <a:path h="354037" w="354037">
                <a:moveTo>
                  <a:pt x="0" y="0"/>
                </a:moveTo>
                <a:lnTo>
                  <a:pt x="354037" y="0"/>
                </a:lnTo>
                <a:lnTo>
                  <a:pt x="354037" y="354037"/>
                </a:lnTo>
                <a:lnTo>
                  <a:pt x="0" y="35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81940" y="996116"/>
            <a:ext cx="5148759" cy="88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4"/>
              </a:lnSpc>
            </a:pPr>
            <a:r>
              <a:rPr lang="en-US" sz="4646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Intervenção RespiRa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41076" y="996116"/>
            <a:ext cx="3841254" cy="88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4"/>
              </a:lnSpc>
            </a:pPr>
            <a:r>
              <a:rPr lang="en-US" sz="4646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Grupo controlo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689381" y="2325902"/>
            <a:ext cx="5642744" cy="6560339"/>
            <a:chOff x="0" y="0"/>
            <a:chExt cx="1056171" cy="1227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6171" cy="1227920"/>
            </a:xfrm>
            <a:custGeom>
              <a:avLst/>
              <a:gdLst/>
              <a:ahLst/>
              <a:cxnLst/>
              <a:rect r="r" b="b" t="t" l="l"/>
              <a:pathLst>
                <a:path h="1227920" w="1056171">
                  <a:moveTo>
                    <a:pt x="23581" y="0"/>
                  </a:moveTo>
                  <a:lnTo>
                    <a:pt x="1032589" y="0"/>
                  </a:lnTo>
                  <a:cubicBezTo>
                    <a:pt x="1045613" y="0"/>
                    <a:pt x="1056171" y="10558"/>
                    <a:pt x="1056171" y="23581"/>
                  </a:cubicBezTo>
                  <a:lnTo>
                    <a:pt x="1056171" y="1204338"/>
                  </a:lnTo>
                  <a:cubicBezTo>
                    <a:pt x="1056171" y="1217362"/>
                    <a:pt x="1045613" y="1227920"/>
                    <a:pt x="1032589" y="1227920"/>
                  </a:cubicBezTo>
                  <a:lnTo>
                    <a:pt x="23581" y="1227920"/>
                  </a:lnTo>
                  <a:cubicBezTo>
                    <a:pt x="10558" y="1227920"/>
                    <a:pt x="0" y="1217362"/>
                    <a:pt x="0" y="1204338"/>
                  </a:cubicBezTo>
                  <a:lnTo>
                    <a:pt x="0" y="23581"/>
                  </a:lnTo>
                  <a:cubicBezTo>
                    <a:pt x="0" y="10558"/>
                    <a:pt x="10558" y="0"/>
                    <a:pt x="2358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82EC">
                    <a:alpha val="100000"/>
                  </a:srgbClr>
                </a:gs>
                <a:gs pos="50000">
                  <a:srgbClr val="4832CC">
                    <a:alpha val="100000"/>
                  </a:srgbClr>
                </a:gs>
                <a:gs pos="100000">
                  <a:srgbClr val="19A7F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1056171" cy="1323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810474" y="2517880"/>
            <a:ext cx="5400557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Acesso à app com as principais funcionalidades 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74753" y="4088870"/>
            <a:ext cx="5071999" cy="401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2081" indent="-301040" lvl="1">
              <a:lnSpc>
                <a:spcPts val="3904"/>
              </a:lnSpc>
              <a:buFont typeface="Arial"/>
              <a:buChar char="•"/>
            </a:pPr>
            <a:r>
              <a:rPr lang="en-US" sz="2788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preenchimento periódico do ACT</a:t>
            </a:r>
          </a:p>
          <a:p>
            <a:pPr algn="l" marL="602081" indent="-301040" lvl="1">
              <a:lnSpc>
                <a:spcPts val="3904"/>
              </a:lnSpc>
              <a:buFont typeface="Arial"/>
              <a:buChar char="•"/>
            </a:pPr>
            <a:r>
              <a:rPr lang="en-US" sz="2788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registo do Peak Flow</a:t>
            </a:r>
          </a:p>
          <a:p>
            <a:pPr algn="l" marL="602081" indent="-301040" lvl="1">
              <a:lnSpc>
                <a:spcPts val="3904"/>
              </a:lnSpc>
              <a:buFont typeface="Arial"/>
              <a:buChar char="•"/>
            </a:pPr>
            <a:r>
              <a:rPr lang="en-US" sz="2788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lembretes de medicação</a:t>
            </a:r>
          </a:p>
          <a:p>
            <a:pPr algn="l" marL="602081" indent="-301040" lvl="1">
              <a:lnSpc>
                <a:spcPts val="3904"/>
              </a:lnSpc>
              <a:buFont typeface="Arial"/>
              <a:buChar char="•"/>
            </a:pPr>
            <a:r>
              <a:rPr lang="en-US" sz="2788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plano de ação personalizada</a:t>
            </a:r>
          </a:p>
          <a:p>
            <a:pPr algn="l" marL="602081" indent="-301040" lvl="1">
              <a:lnSpc>
                <a:spcPts val="3904"/>
              </a:lnSpc>
              <a:buFont typeface="Arial"/>
              <a:buChar char="•"/>
            </a:pPr>
            <a:r>
              <a:rPr lang="en-US" sz="2788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conteúdos educativos</a:t>
            </a:r>
          </a:p>
          <a:p>
            <a:pPr algn="l" marL="602081" indent="-301040" lvl="1">
              <a:lnSpc>
                <a:spcPts val="3904"/>
              </a:lnSpc>
              <a:buFont typeface="Arial"/>
              <a:buChar char="•"/>
            </a:pPr>
            <a:r>
              <a:rPr lang="en-US" sz="2788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visualizar evolução clínica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61424" y="2607987"/>
            <a:ext cx="5400557" cy="124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Cuidado habitual que inclui: </a:t>
            </a:r>
          </a:p>
          <a:p>
            <a:pPr algn="ctr">
              <a:lnSpc>
                <a:spcPts val="4759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0540331" y="2325902"/>
            <a:ext cx="5642744" cy="6560339"/>
            <a:chOff x="0" y="0"/>
            <a:chExt cx="1056171" cy="1227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6171" cy="1227920"/>
            </a:xfrm>
            <a:custGeom>
              <a:avLst/>
              <a:gdLst/>
              <a:ahLst/>
              <a:cxnLst/>
              <a:rect r="r" b="b" t="t" l="l"/>
              <a:pathLst>
                <a:path h="1227920" w="1056171">
                  <a:moveTo>
                    <a:pt x="23581" y="0"/>
                  </a:moveTo>
                  <a:lnTo>
                    <a:pt x="1032589" y="0"/>
                  </a:lnTo>
                  <a:cubicBezTo>
                    <a:pt x="1045613" y="0"/>
                    <a:pt x="1056171" y="10558"/>
                    <a:pt x="1056171" y="23581"/>
                  </a:cubicBezTo>
                  <a:lnTo>
                    <a:pt x="1056171" y="1204338"/>
                  </a:lnTo>
                  <a:cubicBezTo>
                    <a:pt x="1056171" y="1217362"/>
                    <a:pt x="1045613" y="1227920"/>
                    <a:pt x="1032589" y="1227920"/>
                  </a:cubicBezTo>
                  <a:lnTo>
                    <a:pt x="23581" y="1227920"/>
                  </a:lnTo>
                  <a:cubicBezTo>
                    <a:pt x="10558" y="1227920"/>
                    <a:pt x="0" y="1217362"/>
                    <a:pt x="0" y="1204338"/>
                  </a:cubicBezTo>
                  <a:lnTo>
                    <a:pt x="0" y="23581"/>
                  </a:lnTo>
                  <a:cubicBezTo>
                    <a:pt x="0" y="10558"/>
                    <a:pt x="10558" y="0"/>
                    <a:pt x="2358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82EC">
                    <a:alpha val="100000"/>
                  </a:srgbClr>
                </a:gs>
                <a:gs pos="50000">
                  <a:srgbClr val="4832CC">
                    <a:alpha val="100000"/>
                  </a:srgbClr>
                </a:gs>
                <a:gs pos="100000">
                  <a:srgbClr val="19A7F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1056171" cy="1323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825704" y="4149684"/>
            <a:ext cx="5071999" cy="401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2081" indent="-301040" lvl="1">
              <a:lnSpc>
                <a:spcPts val="3904"/>
              </a:lnSpc>
              <a:buFont typeface="Arial"/>
              <a:buChar char="•"/>
            </a:pPr>
            <a:r>
              <a:rPr lang="en-US" sz="2788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consultas médicas programadas</a:t>
            </a:r>
          </a:p>
          <a:p>
            <a:pPr algn="l" marL="602081" indent="-301040" lvl="1">
              <a:lnSpc>
                <a:spcPts val="3904"/>
              </a:lnSpc>
              <a:buFont typeface="Arial"/>
              <a:buChar char="•"/>
            </a:pPr>
            <a:r>
              <a:rPr lang="en-US" sz="2788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acesso à medicação prescrita </a:t>
            </a:r>
          </a:p>
          <a:p>
            <a:pPr algn="l" marL="602081" indent="-301040" lvl="1">
              <a:lnSpc>
                <a:spcPts val="3904"/>
              </a:lnSpc>
              <a:buFont typeface="Arial"/>
              <a:buChar char="•"/>
            </a:pPr>
            <a:r>
              <a:rPr lang="en-US" sz="2788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educação standard fornecida durante a consulta</a:t>
            </a:r>
          </a:p>
          <a:p>
            <a:pPr algn="l" marL="602081" indent="-301040" lvl="1">
              <a:lnSpc>
                <a:spcPts val="3904"/>
              </a:lnSpc>
              <a:buFont typeface="Arial"/>
              <a:buChar char="•"/>
            </a:pPr>
            <a:r>
              <a:rPr lang="en-US" sz="2788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acompanhamento clínico habitual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61424" y="2817917"/>
            <a:ext cx="5400557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Cuidados habitual: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557939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Recolha de dados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12819"/>
            <a:ext cx="8256112" cy="648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</a:pPr>
            <a:r>
              <a:rPr lang="en-US" sz="2837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Os dados são recolhidos através de um </a:t>
            </a:r>
            <a:r>
              <a:rPr lang="en-US" sz="2837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eCRF</a:t>
            </a:r>
            <a:r>
              <a:rPr lang="en-US" sz="2837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, com a estrutura definida no dicionário de dados. </a:t>
            </a:r>
          </a:p>
          <a:p>
            <a:pPr algn="l">
              <a:lnSpc>
                <a:spcPts val="5107"/>
              </a:lnSpc>
            </a:pPr>
            <a:r>
              <a:rPr lang="en-US" sz="2837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Existem 5 momentos de recolha de dados: a </a:t>
            </a:r>
            <a:r>
              <a:rPr lang="en-US" sz="2837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Baseline</a:t>
            </a:r>
            <a:r>
              <a:rPr lang="en-US" sz="2837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, as </a:t>
            </a:r>
            <a:r>
              <a:rPr lang="en-US" sz="2837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4, 8 e 12 semanas. </a:t>
            </a:r>
          </a:p>
          <a:p>
            <a:pPr algn="l">
              <a:lnSpc>
                <a:spcPts val="5107"/>
              </a:lnSpc>
            </a:pPr>
            <a:r>
              <a:rPr lang="en-US" sz="2837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A </a:t>
            </a:r>
            <a:r>
              <a:rPr lang="en-US" sz="2837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variável principal</a:t>
            </a:r>
            <a:r>
              <a:rPr lang="en-US" sz="2837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 é o </a:t>
            </a:r>
            <a:r>
              <a:rPr lang="en-US" sz="2837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ACT </a:t>
            </a:r>
            <a:r>
              <a:rPr lang="en-US" sz="2837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em todos os momentos. Outras variáveis recolhidas são: o </a:t>
            </a:r>
            <a:r>
              <a:rPr lang="en-US" sz="2837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Peak Flow</a:t>
            </a:r>
            <a:r>
              <a:rPr lang="en-US" sz="2837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, a </a:t>
            </a:r>
            <a:r>
              <a:rPr lang="en-US" sz="2837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Adesão à Medicação</a:t>
            </a:r>
            <a:r>
              <a:rPr lang="en-US" sz="2837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, as </a:t>
            </a:r>
            <a:r>
              <a:rPr lang="en-US" sz="2837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Exacerbações</a:t>
            </a:r>
            <a:r>
              <a:rPr lang="en-US" sz="2837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, as </a:t>
            </a:r>
            <a:r>
              <a:rPr lang="en-US" sz="2837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Idas à Urgência</a:t>
            </a:r>
            <a:r>
              <a:rPr lang="en-US" sz="2837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, o </a:t>
            </a:r>
            <a:r>
              <a:rPr lang="en-US" sz="2837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AQLQ </a:t>
            </a:r>
            <a:r>
              <a:rPr lang="en-US" sz="2837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e </a:t>
            </a:r>
            <a:r>
              <a:rPr lang="en-US" sz="2837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satisfação dos cuidados</a:t>
            </a:r>
            <a:r>
              <a:rPr lang="en-US" sz="2837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 apenas no grupo </a:t>
            </a:r>
            <a:r>
              <a:rPr lang="en-US" sz="2837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RespiRA</a:t>
            </a:r>
            <a:r>
              <a:rPr lang="en-US" sz="2837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. </a:t>
            </a:r>
          </a:p>
          <a:p>
            <a:pPr algn="l">
              <a:lnSpc>
                <a:spcPts val="5107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0048628" y="2599373"/>
            <a:ext cx="7210672" cy="5088254"/>
            <a:chOff x="0" y="0"/>
            <a:chExt cx="1563691" cy="11034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3691" cy="1103428"/>
            </a:xfrm>
            <a:custGeom>
              <a:avLst/>
              <a:gdLst/>
              <a:ahLst/>
              <a:cxnLst/>
              <a:rect r="r" b="b" t="t" l="l"/>
              <a:pathLst>
                <a:path h="1103428" w="1563691">
                  <a:moveTo>
                    <a:pt x="16105" y="0"/>
                  </a:moveTo>
                  <a:lnTo>
                    <a:pt x="1547586" y="0"/>
                  </a:lnTo>
                  <a:cubicBezTo>
                    <a:pt x="1556480" y="0"/>
                    <a:pt x="1563691" y="7211"/>
                    <a:pt x="1563691" y="16105"/>
                  </a:cubicBezTo>
                  <a:lnTo>
                    <a:pt x="1563691" y="1087323"/>
                  </a:lnTo>
                  <a:cubicBezTo>
                    <a:pt x="1563691" y="1096217"/>
                    <a:pt x="1556480" y="1103428"/>
                    <a:pt x="1547586" y="1103428"/>
                  </a:cubicBezTo>
                  <a:lnTo>
                    <a:pt x="16105" y="1103428"/>
                  </a:lnTo>
                  <a:cubicBezTo>
                    <a:pt x="7211" y="1103428"/>
                    <a:pt x="0" y="1096217"/>
                    <a:pt x="0" y="1087323"/>
                  </a:cubicBezTo>
                  <a:lnTo>
                    <a:pt x="0" y="16105"/>
                  </a:lnTo>
                  <a:cubicBezTo>
                    <a:pt x="0" y="7211"/>
                    <a:pt x="7211" y="0"/>
                    <a:pt x="16105" y="0"/>
                  </a:cubicBezTo>
                  <a:close/>
                </a:path>
              </a:pathLst>
            </a:custGeom>
            <a:blipFill>
              <a:blip r:embed="rId2"/>
              <a:stretch>
                <a:fillRect l="-2876" t="0" r="-2876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87139" y="-261015"/>
            <a:ext cx="4126202" cy="10809030"/>
            <a:chOff x="0" y="0"/>
            <a:chExt cx="849013" cy="2224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9013" cy="2224080"/>
            </a:xfrm>
            <a:custGeom>
              <a:avLst/>
              <a:gdLst/>
              <a:ahLst/>
              <a:cxnLst/>
              <a:rect r="r" b="b" t="t" l="l"/>
              <a:pathLst>
                <a:path h="2224080" w="849013">
                  <a:moveTo>
                    <a:pt x="36646" y="0"/>
                  </a:moveTo>
                  <a:lnTo>
                    <a:pt x="812367" y="0"/>
                  </a:lnTo>
                  <a:cubicBezTo>
                    <a:pt x="822086" y="0"/>
                    <a:pt x="831407" y="3861"/>
                    <a:pt x="838279" y="10733"/>
                  </a:cubicBezTo>
                  <a:cubicBezTo>
                    <a:pt x="845152" y="17606"/>
                    <a:pt x="849013" y="26927"/>
                    <a:pt x="849013" y="36646"/>
                  </a:cubicBezTo>
                  <a:lnTo>
                    <a:pt x="849013" y="2187434"/>
                  </a:lnTo>
                  <a:cubicBezTo>
                    <a:pt x="849013" y="2197153"/>
                    <a:pt x="845152" y="2206474"/>
                    <a:pt x="838279" y="2213347"/>
                  </a:cubicBezTo>
                  <a:cubicBezTo>
                    <a:pt x="831407" y="2220219"/>
                    <a:pt x="822086" y="2224080"/>
                    <a:pt x="812367" y="2224080"/>
                  </a:cubicBezTo>
                  <a:lnTo>
                    <a:pt x="36646" y="2224080"/>
                  </a:lnTo>
                  <a:cubicBezTo>
                    <a:pt x="26927" y="2224080"/>
                    <a:pt x="17606" y="2220219"/>
                    <a:pt x="10733" y="2213347"/>
                  </a:cubicBezTo>
                  <a:cubicBezTo>
                    <a:pt x="3861" y="2206474"/>
                    <a:pt x="0" y="2197153"/>
                    <a:pt x="0" y="2187434"/>
                  </a:cubicBezTo>
                  <a:lnTo>
                    <a:pt x="0" y="36646"/>
                  </a:lnTo>
                  <a:cubicBezTo>
                    <a:pt x="0" y="26927"/>
                    <a:pt x="3861" y="17606"/>
                    <a:pt x="10733" y="10733"/>
                  </a:cubicBezTo>
                  <a:cubicBezTo>
                    <a:pt x="17606" y="3861"/>
                    <a:pt x="26927" y="0"/>
                    <a:pt x="3664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82EC">
                    <a:alpha val="100000"/>
                  </a:srgbClr>
                </a:gs>
                <a:gs pos="50000">
                  <a:srgbClr val="4832CC">
                    <a:alpha val="100000"/>
                  </a:srgbClr>
                </a:gs>
                <a:gs pos="100000">
                  <a:srgbClr val="19A7F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49013" cy="2319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28742" y="3583186"/>
            <a:ext cx="7505700" cy="4014250"/>
            <a:chOff x="0" y="0"/>
            <a:chExt cx="1563691" cy="8363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63691" cy="836304"/>
            </a:xfrm>
            <a:custGeom>
              <a:avLst/>
              <a:gdLst/>
              <a:ahLst/>
              <a:cxnLst/>
              <a:rect r="r" b="b" t="t" l="l"/>
              <a:pathLst>
                <a:path h="836304" w="1563691">
                  <a:moveTo>
                    <a:pt x="15472" y="0"/>
                  </a:moveTo>
                  <a:lnTo>
                    <a:pt x="1548219" y="0"/>
                  </a:lnTo>
                  <a:cubicBezTo>
                    <a:pt x="1552322" y="0"/>
                    <a:pt x="1556257" y="1630"/>
                    <a:pt x="1559159" y="4532"/>
                  </a:cubicBezTo>
                  <a:cubicBezTo>
                    <a:pt x="1562061" y="7433"/>
                    <a:pt x="1563691" y="11369"/>
                    <a:pt x="1563691" y="15472"/>
                  </a:cubicBezTo>
                  <a:lnTo>
                    <a:pt x="1563691" y="820832"/>
                  </a:lnTo>
                  <a:cubicBezTo>
                    <a:pt x="1563691" y="824935"/>
                    <a:pt x="1562061" y="828871"/>
                    <a:pt x="1559159" y="831772"/>
                  </a:cubicBezTo>
                  <a:cubicBezTo>
                    <a:pt x="1556257" y="834674"/>
                    <a:pt x="1552322" y="836304"/>
                    <a:pt x="1548219" y="836304"/>
                  </a:cubicBezTo>
                  <a:lnTo>
                    <a:pt x="15472" y="836304"/>
                  </a:lnTo>
                  <a:cubicBezTo>
                    <a:pt x="11369" y="836304"/>
                    <a:pt x="7433" y="834674"/>
                    <a:pt x="4532" y="831772"/>
                  </a:cubicBezTo>
                  <a:cubicBezTo>
                    <a:pt x="1630" y="828871"/>
                    <a:pt x="0" y="824935"/>
                    <a:pt x="0" y="820832"/>
                  </a:cubicBezTo>
                  <a:lnTo>
                    <a:pt x="0" y="15472"/>
                  </a:lnTo>
                  <a:cubicBezTo>
                    <a:pt x="0" y="11369"/>
                    <a:pt x="1630" y="7433"/>
                    <a:pt x="4532" y="4532"/>
                  </a:cubicBezTo>
                  <a:cubicBezTo>
                    <a:pt x="7433" y="1630"/>
                    <a:pt x="11369" y="0"/>
                    <a:pt x="154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092" r="0" b="-609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77600" y="3583186"/>
            <a:ext cx="7010114" cy="4901566"/>
            <a:chOff x="0" y="0"/>
            <a:chExt cx="1397356" cy="977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7356" cy="977050"/>
            </a:xfrm>
            <a:custGeom>
              <a:avLst/>
              <a:gdLst/>
              <a:ahLst/>
              <a:cxnLst/>
              <a:rect r="r" b="b" t="t" l="l"/>
              <a:pathLst>
                <a:path h="977050" w="1397356">
                  <a:moveTo>
                    <a:pt x="21570" y="0"/>
                  </a:moveTo>
                  <a:lnTo>
                    <a:pt x="1375786" y="0"/>
                  </a:lnTo>
                  <a:cubicBezTo>
                    <a:pt x="1381507" y="0"/>
                    <a:pt x="1386993" y="2273"/>
                    <a:pt x="1391038" y="6318"/>
                  </a:cubicBezTo>
                  <a:cubicBezTo>
                    <a:pt x="1395083" y="10363"/>
                    <a:pt x="1397356" y="15849"/>
                    <a:pt x="1397356" y="21570"/>
                  </a:cubicBezTo>
                  <a:lnTo>
                    <a:pt x="1397356" y="955480"/>
                  </a:lnTo>
                  <a:cubicBezTo>
                    <a:pt x="1397356" y="967393"/>
                    <a:pt x="1387699" y="977050"/>
                    <a:pt x="1375786" y="977050"/>
                  </a:cubicBezTo>
                  <a:lnTo>
                    <a:pt x="21570" y="977050"/>
                  </a:lnTo>
                  <a:cubicBezTo>
                    <a:pt x="9657" y="977050"/>
                    <a:pt x="0" y="967393"/>
                    <a:pt x="0" y="955480"/>
                  </a:cubicBezTo>
                  <a:lnTo>
                    <a:pt x="0" y="21570"/>
                  </a:lnTo>
                  <a:cubicBezTo>
                    <a:pt x="0" y="9657"/>
                    <a:pt x="9657" y="0"/>
                    <a:pt x="215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397356" cy="107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560920" y="-425459"/>
            <a:ext cx="1454159" cy="145415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191606" y="8484752"/>
            <a:ext cx="2063263" cy="20632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384331" y="8681944"/>
            <a:ext cx="1088295" cy="108829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5400000">
            <a:off x="15751460" y="9049073"/>
            <a:ext cx="354037" cy="354037"/>
          </a:xfrm>
          <a:custGeom>
            <a:avLst/>
            <a:gdLst/>
            <a:ahLst/>
            <a:cxnLst/>
            <a:rect r="r" b="b" t="t" l="l"/>
            <a:pathLst>
              <a:path h="354037" w="354037">
                <a:moveTo>
                  <a:pt x="0" y="0"/>
                </a:moveTo>
                <a:lnTo>
                  <a:pt x="354037" y="0"/>
                </a:lnTo>
                <a:lnTo>
                  <a:pt x="354037" y="354036"/>
                </a:lnTo>
                <a:lnTo>
                  <a:pt x="0" y="3540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2188100"/>
            <a:ext cx="790791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Ética e proteção de dados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31928" y="3757941"/>
            <a:ext cx="6301458" cy="438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323" indent="-230661" lvl="1">
              <a:lnSpc>
                <a:spcPts val="3846"/>
              </a:lnSpc>
              <a:buFont typeface="Arial"/>
              <a:buChar char="•"/>
            </a:pPr>
            <a:r>
              <a:rPr lang="en-US" sz="2136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Consentimento informado antes de qualquer procedimento</a:t>
            </a:r>
          </a:p>
          <a:p>
            <a:pPr algn="l" marL="461323" indent="-230661" lvl="1">
              <a:lnSpc>
                <a:spcPts val="3846"/>
              </a:lnSpc>
              <a:buFont typeface="Arial"/>
              <a:buChar char="•"/>
            </a:pPr>
            <a:r>
              <a:rPr lang="en-US" sz="2136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Cumprimento da Declaração de Helsínquia</a:t>
            </a:r>
          </a:p>
          <a:p>
            <a:pPr algn="l" marL="461323" indent="-230661" lvl="1">
              <a:lnSpc>
                <a:spcPts val="3846"/>
              </a:lnSpc>
              <a:buFont typeface="Arial"/>
              <a:buChar char="•"/>
            </a:pPr>
            <a:r>
              <a:rPr lang="en-US" sz="2136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Tratamento de dados conforme RGPD</a:t>
            </a:r>
          </a:p>
          <a:p>
            <a:pPr algn="l" marL="461323" indent="-230661" lvl="1">
              <a:lnSpc>
                <a:spcPts val="3846"/>
              </a:lnSpc>
              <a:buFont typeface="Arial"/>
              <a:buChar char="•"/>
            </a:pPr>
            <a:r>
              <a:rPr lang="en-US" sz="2136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Dados pseudonimizados através de código único</a:t>
            </a:r>
          </a:p>
          <a:p>
            <a:pPr algn="l" marL="461323" indent="-230661" lvl="1">
              <a:lnSpc>
                <a:spcPts val="3846"/>
              </a:lnSpc>
              <a:buFont typeface="Arial"/>
              <a:buChar char="•"/>
            </a:pPr>
            <a:r>
              <a:rPr lang="en-US" sz="2136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Acesso restrito aos dados pela equipa autorizada</a:t>
            </a:r>
          </a:p>
          <a:p>
            <a:pPr algn="l" marL="461323" indent="-230661" lvl="1">
              <a:lnSpc>
                <a:spcPts val="3846"/>
              </a:lnSpc>
              <a:buFont typeface="Arial"/>
              <a:buChar char="•"/>
            </a:pPr>
            <a:r>
              <a:rPr lang="en-US" sz="2136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Possibilidade de retirada do consentimento a qualquer momento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54" y="-261015"/>
            <a:ext cx="2189666" cy="10809030"/>
            <a:chOff x="0" y="0"/>
            <a:chExt cx="450549" cy="2224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549" cy="2224080"/>
            </a:xfrm>
            <a:custGeom>
              <a:avLst/>
              <a:gdLst/>
              <a:ahLst/>
              <a:cxnLst/>
              <a:rect r="r" b="b" t="t" l="l"/>
              <a:pathLst>
                <a:path h="2224080" w="450549">
                  <a:moveTo>
                    <a:pt x="69056" y="0"/>
                  </a:moveTo>
                  <a:lnTo>
                    <a:pt x="381493" y="0"/>
                  </a:lnTo>
                  <a:cubicBezTo>
                    <a:pt x="399807" y="0"/>
                    <a:pt x="417372" y="7276"/>
                    <a:pt x="430323" y="20226"/>
                  </a:cubicBezTo>
                  <a:cubicBezTo>
                    <a:pt x="443273" y="33176"/>
                    <a:pt x="450549" y="50741"/>
                    <a:pt x="450549" y="69056"/>
                  </a:cubicBezTo>
                  <a:lnTo>
                    <a:pt x="450549" y="2155024"/>
                  </a:lnTo>
                  <a:cubicBezTo>
                    <a:pt x="450549" y="2173339"/>
                    <a:pt x="443273" y="2190904"/>
                    <a:pt x="430323" y="2203854"/>
                  </a:cubicBezTo>
                  <a:cubicBezTo>
                    <a:pt x="417372" y="2216805"/>
                    <a:pt x="399807" y="2224080"/>
                    <a:pt x="381493" y="2224080"/>
                  </a:cubicBezTo>
                  <a:lnTo>
                    <a:pt x="69056" y="2224080"/>
                  </a:lnTo>
                  <a:cubicBezTo>
                    <a:pt x="50741" y="2224080"/>
                    <a:pt x="33176" y="2216805"/>
                    <a:pt x="20226" y="2203854"/>
                  </a:cubicBezTo>
                  <a:cubicBezTo>
                    <a:pt x="7276" y="2190904"/>
                    <a:pt x="0" y="2173339"/>
                    <a:pt x="0" y="2155024"/>
                  </a:cubicBezTo>
                  <a:lnTo>
                    <a:pt x="0" y="69056"/>
                  </a:lnTo>
                  <a:cubicBezTo>
                    <a:pt x="0" y="50741"/>
                    <a:pt x="7276" y="33176"/>
                    <a:pt x="20226" y="20226"/>
                  </a:cubicBezTo>
                  <a:cubicBezTo>
                    <a:pt x="33176" y="7276"/>
                    <a:pt x="50741" y="0"/>
                    <a:pt x="690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82EC">
                    <a:alpha val="100000"/>
                  </a:srgbClr>
                </a:gs>
                <a:gs pos="50000">
                  <a:srgbClr val="4832CC">
                    <a:alpha val="100000"/>
                  </a:srgbClr>
                </a:gs>
                <a:gs pos="100000">
                  <a:srgbClr val="19A7F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450549" cy="2319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60920" y="-425459"/>
            <a:ext cx="1454159" cy="145415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1606" y="8752369"/>
            <a:ext cx="1795646" cy="179564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16773" y="8935183"/>
            <a:ext cx="1088295" cy="108829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17383902" y="9302312"/>
            <a:ext cx="354037" cy="354037"/>
          </a:xfrm>
          <a:custGeom>
            <a:avLst/>
            <a:gdLst/>
            <a:ahLst/>
            <a:cxnLst/>
            <a:rect r="r" b="b" t="t" l="l"/>
            <a:pathLst>
              <a:path h="354037" w="354037">
                <a:moveTo>
                  <a:pt x="0" y="0"/>
                </a:moveTo>
                <a:lnTo>
                  <a:pt x="354037" y="0"/>
                </a:lnTo>
                <a:lnTo>
                  <a:pt x="354037" y="354037"/>
                </a:lnTo>
                <a:lnTo>
                  <a:pt x="0" y="35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100020" y="2437538"/>
            <a:ext cx="9932491" cy="7585940"/>
          </a:xfrm>
          <a:custGeom>
            <a:avLst/>
            <a:gdLst/>
            <a:ahLst/>
            <a:cxnLst/>
            <a:rect r="r" b="b" t="t" l="l"/>
            <a:pathLst>
              <a:path h="7585940" w="9932491">
                <a:moveTo>
                  <a:pt x="0" y="0"/>
                </a:moveTo>
                <a:lnTo>
                  <a:pt x="9932491" y="0"/>
                </a:lnTo>
                <a:lnTo>
                  <a:pt x="9932491" y="7585939"/>
                </a:lnTo>
                <a:lnTo>
                  <a:pt x="0" y="7585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44391" y="904875"/>
            <a:ext cx="1042106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Link site do quarto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77960" y="3296246"/>
            <a:ext cx="8748256" cy="50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u="sng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  <a:hlinkClick r:id="rId5" tooltip="https://joanateixeiraa.github.io/RespiRA_site/"/>
              </a:rPr>
              <a:t>https://joanateixeiraa.github.io/RespiRA_site/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54" y="-261015"/>
            <a:ext cx="2189666" cy="10809030"/>
            <a:chOff x="0" y="0"/>
            <a:chExt cx="450549" cy="2224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549" cy="2224080"/>
            </a:xfrm>
            <a:custGeom>
              <a:avLst/>
              <a:gdLst/>
              <a:ahLst/>
              <a:cxnLst/>
              <a:rect r="r" b="b" t="t" l="l"/>
              <a:pathLst>
                <a:path h="2224080" w="450549">
                  <a:moveTo>
                    <a:pt x="69056" y="0"/>
                  </a:moveTo>
                  <a:lnTo>
                    <a:pt x="381493" y="0"/>
                  </a:lnTo>
                  <a:cubicBezTo>
                    <a:pt x="399807" y="0"/>
                    <a:pt x="417372" y="7276"/>
                    <a:pt x="430323" y="20226"/>
                  </a:cubicBezTo>
                  <a:cubicBezTo>
                    <a:pt x="443273" y="33176"/>
                    <a:pt x="450549" y="50741"/>
                    <a:pt x="450549" y="69056"/>
                  </a:cubicBezTo>
                  <a:lnTo>
                    <a:pt x="450549" y="2155024"/>
                  </a:lnTo>
                  <a:cubicBezTo>
                    <a:pt x="450549" y="2173339"/>
                    <a:pt x="443273" y="2190904"/>
                    <a:pt x="430323" y="2203854"/>
                  </a:cubicBezTo>
                  <a:cubicBezTo>
                    <a:pt x="417372" y="2216805"/>
                    <a:pt x="399807" y="2224080"/>
                    <a:pt x="381493" y="2224080"/>
                  </a:cubicBezTo>
                  <a:lnTo>
                    <a:pt x="69056" y="2224080"/>
                  </a:lnTo>
                  <a:cubicBezTo>
                    <a:pt x="50741" y="2224080"/>
                    <a:pt x="33176" y="2216805"/>
                    <a:pt x="20226" y="2203854"/>
                  </a:cubicBezTo>
                  <a:cubicBezTo>
                    <a:pt x="7276" y="2190904"/>
                    <a:pt x="0" y="2173339"/>
                    <a:pt x="0" y="2155024"/>
                  </a:cubicBezTo>
                  <a:lnTo>
                    <a:pt x="0" y="69056"/>
                  </a:lnTo>
                  <a:cubicBezTo>
                    <a:pt x="0" y="50741"/>
                    <a:pt x="7276" y="33176"/>
                    <a:pt x="20226" y="20226"/>
                  </a:cubicBezTo>
                  <a:cubicBezTo>
                    <a:pt x="33176" y="7276"/>
                    <a:pt x="50741" y="0"/>
                    <a:pt x="690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82EC">
                    <a:alpha val="100000"/>
                  </a:srgbClr>
                </a:gs>
                <a:gs pos="50000">
                  <a:srgbClr val="4832CC">
                    <a:alpha val="100000"/>
                  </a:srgbClr>
                </a:gs>
                <a:gs pos="100000">
                  <a:srgbClr val="19A7F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450549" cy="2319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60920" y="-425459"/>
            <a:ext cx="1454159" cy="145415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1606" y="8752369"/>
            <a:ext cx="1795646" cy="179564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16773" y="8935183"/>
            <a:ext cx="1088295" cy="108829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B6FF"/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17383902" y="9302312"/>
            <a:ext cx="354037" cy="354037"/>
          </a:xfrm>
          <a:custGeom>
            <a:avLst/>
            <a:gdLst/>
            <a:ahLst/>
            <a:cxnLst/>
            <a:rect r="r" b="b" t="t" l="l"/>
            <a:pathLst>
              <a:path h="354037" w="354037">
                <a:moveTo>
                  <a:pt x="0" y="0"/>
                </a:moveTo>
                <a:lnTo>
                  <a:pt x="354037" y="0"/>
                </a:lnTo>
                <a:lnTo>
                  <a:pt x="354037" y="354037"/>
                </a:lnTo>
                <a:lnTo>
                  <a:pt x="0" y="35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100020" y="2437538"/>
            <a:ext cx="9932491" cy="7585940"/>
          </a:xfrm>
          <a:custGeom>
            <a:avLst/>
            <a:gdLst/>
            <a:ahLst/>
            <a:cxnLst/>
            <a:rect r="r" b="b" t="t" l="l"/>
            <a:pathLst>
              <a:path h="7585940" w="9932491">
                <a:moveTo>
                  <a:pt x="0" y="0"/>
                </a:moveTo>
                <a:lnTo>
                  <a:pt x="9932491" y="0"/>
                </a:lnTo>
                <a:lnTo>
                  <a:pt x="9932491" y="7585939"/>
                </a:lnTo>
                <a:lnTo>
                  <a:pt x="0" y="7585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44391" y="904875"/>
            <a:ext cx="1042106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Link do protótipo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77960" y="3296246"/>
            <a:ext cx="8748256" cy="1524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u="sng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  <a:hlinkClick r:id="rId5" tooltip="https://www.figma.com/design/IWmuWSqPlOIPMdWbxvlKT8/APP-RespiRA?node-id=0-1&amp;m=dev&amp;t=5FbMRS4Xi6Lhgsz1-1"/>
              </a:rPr>
              <a:t>https://www.figma.com/design/IWmuWSqPlOIPMdWbxvlKT8/APP-RespiRA?node-id=0-1&amp;m=dev&amp;t=5FbMRS4Xi6Lhgsz1-1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22802" y="1752600"/>
            <a:ext cx="5215069" cy="7798725"/>
            <a:chOff x="0" y="0"/>
            <a:chExt cx="1563691" cy="2338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3691" cy="2338376"/>
            </a:xfrm>
            <a:custGeom>
              <a:avLst/>
              <a:gdLst/>
              <a:ahLst/>
              <a:cxnLst/>
              <a:rect r="r" b="b" t="t" l="l"/>
              <a:pathLst>
                <a:path h="2338376" w="1563691">
                  <a:moveTo>
                    <a:pt x="22268" y="0"/>
                  </a:moveTo>
                  <a:lnTo>
                    <a:pt x="1541423" y="0"/>
                  </a:lnTo>
                  <a:cubicBezTo>
                    <a:pt x="1547329" y="0"/>
                    <a:pt x="1552993" y="2346"/>
                    <a:pt x="1557169" y="6522"/>
                  </a:cubicBezTo>
                  <a:cubicBezTo>
                    <a:pt x="1561345" y="10698"/>
                    <a:pt x="1563691" y="16362"/>
                    <a:pt x="1563691" y="22268"/>
                  </a:cubicBezTo>
                  <a:lnTo>
                    <a:pt x="1563691" y="2316108"/>
                  </a:lnTo>
                  <a:cubicBezTo>
                    <a:pt x="1563691" y="2322014"/>
                    <a:pt x="1561345" y="2327678"/>
                    <a:pt x="1557169" y="2331854"/>
                  </a:cubicBezTo>
                  <a:cubicBezTo>
                    <a:pt x="1552993" y="2336030"/>
                    <a:pt x="1547329" y="2338376"/>
                    <a:pt x="1541423" y="2338376"/>
                  </a:cubicBezTo>
                  <a:lnTo>
                    <a:pt x="22268" y="2338376"/>
                  </a:lnTo>
                  <a:cubicBezTo>
                    <a:pt x="16362" y="2338376"/>
                    <a:pt x="10698" y="2336030"/>
                    <a:pt x="6522" y="2331854"/>
                  </a:cubicBezTo>
                  <a:cubicBezTo>
                    <a:pt x="2346" y="2327678"/>
                    <a:pt x="0" y="2322014"/>
                    <a:pt x="0" y="2316108"/>
                  </a:cubicBezTo>
                  <a:lnTo>
                    <a:pt x="0" y="22268"/>
                  </a:lnTo>
                  <a:cubicBezTo>
                    <a:pt x="0" y="16362"/>
                    <a:pt x="2346" y="10698"/>
                    <a:pt x="6522" y="6522"/>
                  </a:cubicBezTo>
                  <a:cubicBezTo>
                    <a:pt x="10698" y="2346"/>
                    <a:pt x="16362" y="0"/>
                    <a:pt x="22268" y="0"/>
                  </a:cubicBezTo>
                  <a:close/>
                </a:path>
              </a:pathLst>
            </a:custGeom>
            <a:blipFill>
              <a:blip r:embed="rId2"/>
              <a:stretch>
                <a:fillRect l="-124109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887508"/>
            <a:ext cx="9461492" cy="766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2799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Este estudo piloto ajuda-nos a perceber a </a:t>
            </a:r>
            <a:r>
              <a:rPr lang="en-US" sz="2799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eficácia </a:t>
            </a:r>
            <a:r>
              <a:rPr lang="en-US" sz="2799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da app RespiRa no controlo da asma em adultos com asma moderada persistente em cuidados de saúde primários. Comparando os </a:t>
            </a:r>
            <a:r>
              <a:rPr lang="en-US" sz="2799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resultados do ACT </a:t>
            </a:r>
            <a:r>
              <a:rPr lang="en-US" sz="2799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obtidos na </a:t>
            </a:r>
            <a:r>
              <a:rPr lang="en-US" sz="2799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baseline </a:t>
            </a:r>
            <a:r>
              <a:rPr lang="en-US" sz="2799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e às </a:t>
            </a:r>
            <a:r>
              <a:rPr lang="en-US" sz="2799" b="true">
                <a:solidFill>
                  <a:srgbClr val="1C1C1C"/>
                </a:solidFill>
                <a:latin typeface="Futura Bold"/>
                <a:ea typeface="Futura Bold"/>
                <a:cs typeface="Futura Bold"/>
                <a:sym typeface="Futura Bold"/>
              </a:rPr>
              <a:t>12 semanas</a:t>
            </a:r>
            <a:r>
              <a:rPr lang="en-US" sz="2799">
                <a:solidFill>
                  <a:srgbClr val="1C1C1C"/>
                </a:solidFill>
                <a:latin typeface="Futura"/>
                <a:ea typeface="Futura"/>
                <a:cs typeface="Futura"/>
                <a:sym typeface="Futura"/>
              </a:rPr>
              <a:t>, conseguimos não só compreender a evolução dos doentes, mas também apontar limitações metodológicas e estimar parâmetros necessários para o desenvolvimento de estudos mais completos e de maior dimensão. Algo valioso para o futuro uma vez que só com os estudos mais robustos é que conseguimos avaliar de forma mais sólida o verdadeiro impacto da app no controlo da asma e na adesão à medicação.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04875"/>
            <a:ext cx="557939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DAHJdmNLrvg</dc:identifier>
  <dcterms:modified xsi:type="dcterms:W3CDTF">2011-08-01T06:04:30Z</dcterms:modified>
  <cp:revision>1</cp:revision>
  <dc:title>Medical</dc:title>
</cp:coreProperties>
</file>
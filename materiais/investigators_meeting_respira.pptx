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Investigator’s Meeting RespiRA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Ensaio clínico randomizado em cuidados de saúde primários</a:t>
            </a:r>
            <a:br/>
            <a:br/>
            <a:r>
              <a:rPr/>
              <a:t>Grupo 7 - Turma 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Aplicação móvel de autogestão da asma</a:t>
            </a:r>
          </a:p>
          <a:p>
            <a:pPr lvl="0" indent="0" marL="0">
              <a:buNone/>
            </a:pPr>
            <a:r>
              <a:rPr/>
              <a:t>Ensaio clínico randomizado para avaliar se a aplicação RespiRA, em associação ao cuidado habitual, melhora o controlo da asma em adultos com asma moderada persistente.</a:t>
            </a:r>
          </a:p>
          <a:p>
            <a:pPr lvl="0" indent="0" marL="0">
              <a:buNone/>
            </a:pPr>
            <a:r>
              <a:rPr b="1"/>
              <a:t>Duração prevista da apresentação:</a:t>
            </a:r>
            <a:r>
              <a:rPr/>
              <a:t> 10 a 15 minutos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 da reunião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Apresentar o racional clínico e metodológico do estudo.</a:t>
            </a:r>
          </a:p>
          <a:p>
            <a:pPr lvl="0"/>
            <a:r>
              <a:rPr/>
              <a:t>Clarificar o percurso dos participantes no ensaio.</a:t>
            </a:r>
          </a:p>
          <a:p>
            <a:pPr lvl="0"/>
            <a:r>
              <a:rPr/>
              <a:t>Explicar os procedimentos de recolha de dados.</a:t>
            </a:r>
          </a:p>
          <a:p>
            <a:pPr lvl="0"/>
            <a:r>
              <a:rPr/>
              <a:t>Demonstrar o protótipo da aplicação RespiRA.</a:t>
            </a:r>
          </a:p>
          <a:p>
            <a:pPr lvl="0"/>
            <a:r>
              <a:rPr/>
              <a:t>Alinhar a equipa clínica quanto ao recrutamento, acompanhamento e registo de outcomes.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Contexto clínico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asma é uma doença inflamatória crónica das vias aéreas associada a sintomas recorrentes, exacerbações, limitação funcional e utilização relevante de recursos de saúde.</a:t>
            </a:r>
          </a:p>
          <a:p>
            <a:pPr lvl="0" indent="0" marL="0">
              <a:buNone/>
            </a:pPr>
            <a:r>
              <a:rPr/>
              <a:t>Apesar de terapêuticas eficazes, muitos doentes mantêm controlo inadequado, frequentemente por baixa adesão à medicação, técnica inalatória incorreta e monitorização irregular dos sintomas.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Pergunta do estudo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utilização da aplicação RespiRA melhora o controlo da asma às 12 semanas, comparativamente ao cuidado habitual isolado?</a:t>
            </a:r>
          </a:p>
          <a:p>
            <a:pPr lvl="0" indent="0" marL="0">
              <a:buNone/>
            </a:pPr>
            <a:r>
              <a:rPr/>
              <a:t>Outcome primário:</a:t>
            </a:r>
          </a:p>
          <a:p>
            <a:pPr lvl="0"/>
            <a:r>
              <a:rPr/>
              <a:t>variação do Asthma Control Test (ACT);</a:t>
            </a:r>
          </a:p>
          <a:p>
            <a:pPr lvl="0"/>
            <a:r>
              <a:rPr/>
              <a:t>comparação entre baseline e 12 semanas;</a:t>
            </a:r>
          </a:p>
          <a:p>
            <a:pPr lvl="0"/>
            <a:r>
              <a:rPr/>
              <a:t>avaliação em grupo intervenção versus grupo controlo.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Desenho do ensaio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Ensaio clínico randomizado, controlado, paralelo.</a:t>
            </a:r>
          </a:p>
          <a:p>
            <a:pPr lvl="0"/>
            <a:r>
              <a:rPr/>
              <a:t>Randomização 1:1.</a:t>
            </a:r>
          </a:p>
          <a:p>
            <a:pPr lvl="0"/>
            <a:r>
              <a:rPr/>
              <a:t>Duração: 12 semanas.</a:t>
            </a:r>
          </a:p>
          <a:p>
            <a:pPr lvl="0"/>
            <a:r>
              <a:rPr/>
              <a:t>População: adultos com asma moderada persistente.</a:t>
            </a:r>
          </a:p>
          <a:p>
            <a:pPr lvl="0"/>
            <a:r>
              <a:rPr/>
              <a:t>Contexto: cuidados de saúde primários.</a:t>
            </a:r>
          </a:p>
          <a:p>
            <a:pPr lvl="0"/>
            <a:r>
              <a:rPr/>
              <a:t>Amostra piloto: 30 participantes, 15 por braço.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Percurso do participante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Identificação de potenciais participantes.</a:t>
            </a:r>
          </a:p>
          <a:p>
            <a:pPr lvl="0" indent="-342900" marL="342900">
              <a:buAutoNum type="arabicPeriod"/>
            </a:pPr>
            <a:r>
              <a:rPr/>
              <a:t>Verificação dos critérios de inclusão e exclusão.</a:t>
            </a:r>
          </a:p>
          <a:p>
            <a:pPr lvl="0" indent="-342900" marL="342900">
              <a:buAutoNum type="arabicPeriod"/>
            </a:pPr>
            <a:r>
              <a:rPr/>
              <a:t>Apresentação do estudo e consentimento informado.</a:t>
            </a:r>
          </a:p>
          <a:p>
            <a:pPr lvl="0" indent="-342900" marL="342900">
              <a:buAutoNum type="arabicPeriod"/>
            </a:pPr>
            <a:r>
              <a:rPr/>
              <a:t>Avaliação basal.</a:t>
            </a:r>
          </a:p>
          <a:p>
            <a:pPr lvl="0" indent="-342900" marL="342900">
              <a:buAutoNum type="arabicPeriod"/>
            </a:pPr>
            <a:r>
              <a:rPr/>
              <a:t>Randomização 1:1.</a:t>
            </a:r>
          </a:p>
          <a:p>
            <a:pPr lvl="0" indent="-342900" marL="342900">
              <a:buAutoNum type="arabicPeriod"/>
            </a:pPr>
            <a:r>
              <a:rPr/>
              <a:t>Intervenção ou cuidado habitual.</a:t>
            </a:r>
          </a:p>
          <a:p>
            <a:pPr lvl="0" indent="-342900" marL="342900">
              <a:buAutoNum type="arabicPeriod"/>
            </a:pPr>
            <a:r>
              <a:rPr/>
              <a:t>Avaliações às 4, 8 e 12 semanas.</a:t>
            </a:r>
          </a:p>
          <a:p>
            <a:pPr lvl="0" indent="-342900" marL="342900">
              <a:buAutoNum type="arabicPeriod"/>
            </a:pPr>
            <a:r>
              <a:rPr/>
              <a:t>Recolha final de outcomes e análise.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Intervenção RespiRA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grupo de intervenção, os participantes recebem acesso à aplicação RespiRA além do cuidado habitual.</a:t>
            </a:r>
          </a:p>
          <a:p>
            <a:pPr lvl="0" indent="0" marL="0">
              <a:buNone/>
            </a:pPr>
            <a:r>
              <a:rPr/>
              <a:t>Funcionalidades principais:</a:t>
            </a:r>
          </a:p>
          <a:p>
            <a:pPr lvl="0"/>
            <a:r>
              <a:rPr/>
              <a:t>preenchimento periódico do ACT;</a:t>
            </a:r>
          </a:p>
          <a:p>
            <a:pPr lvl="0"/>
            <a:r>
              <a:rPr/>
              <a:t>registo de peak flow;</a:t>
            </a:r>
          </a:p>
          <a:p>
            <a:pPr lvl="0"/>
            <a:r>
              <a:rPr/>
              <a:t>lembretes de medicação;</a:t>
            </a:r>
          </a:p>
          <a:p>
            <a:pPr lvl="0"/>
            <a:r>
              <a:rPr/>
              <a:t>plano de ação personalizado;</a:t>
            </a:r>
          </a:p>
          <a:p>
            <a:pPr lvl="0"/>
            <a:r>
              <a:rPr/>
              <a:t>conteúdos educativos;</a:t>
            </a:r>
          </a:p>
          <a:p>
            <a:pPr lvl="0"/>
            <a:r>
              <a:rPr/>
              <a:t>visualização da evolução clínica.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Grupo controlo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grupo controlo recebe o cuidado habitual prestado no centro de saúde.</a:t>
            </a:r>
          </a:p>
          <a:p>
            <a:pPr lvl="0" indent="0" marL="0">
              <a:buNone/>
            </a:pPr>
            <a:r>
              <a:rPr/>
              <a:t>Inclui:</a:t>
            </a:r>
          </a:p>
          <a:p>
            <a:pPr lvl="0"/>
            <a:r>
              <a:rPr/>
              <a:t>consultas médicas programadas;</a:t>
            </a:r>
          </a:p>
          <a:p>
            <a:pPr lvl="0"/>
            <a:r>
              <a:rPr/>
              <a:t>acesso à medicação prescrita;</a:t>
            </a:r>
          </a:p>
          <a:p>
            <a:pPr lvl="0"/>
            <a:r>
              <a:rPr/>
              <a:t>educação standard fornecida durante a consulta;</a:t>
            </a:r>
          </a:p>
          <a:p>
            <a:pPr lvl="0"/>
            <a:r>
              <a:rPr/>
              <a:t>acompanhamento clínico habitual.</a:t>
            </a:r>
          </a:p>
          <a:p>
            <a:pPr lvl="0" indent="0" marL="0">
              <a:buNone/>
            </a:pPr>
            <a:r>
              <a:rPr/>
              <a:t>Este grupo não utiliza a aplicação durante as 12 semanas do estudo.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Recolha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 dados são recolhidos através de eCRF/REDCap, com estrutura definida no dicionário de dados.</a:t>
            </a:r>
          </a:p>
          <a:p>
            <a:pPr lvl="0" indent="0" marL="0">
              <a:buNone/>
            </a:pPr>
            <a:r>
              <a:rPr/>
              <a:t>Momentos principais:</a:t>
            </a:r>
          </a:p>
          <a:p>
            <a:pPr lvl="0"/>
            <a:r>
              <a:rPr/>
              <a:t>baseline;</a:t>
            </a:r>
          </a:p>
          <a:p>
            <a:pPr lvl="0"/>
            <a:r>
              <a:rPr/>
              <a:t>4 semanas;</a:t>
            </a:r>
          </a:p>
          <a:p>
            <a:pPr lvl="0"/>
            <a:r>
              <a:rPr/>
              <a:t>8 semanas;</a:t>
            </a:r>
          </a:p>
          <a:p>
            <a:pPr lvl="0"/>
            <a:r>
              <a:rPr/>
              <a:t>12 semanas.</a:t>
            </a:r>
          </a:p>
          <a:p>
            <a:pPr lvl="0" indent="0" marL="0">
              <a:buNone/>
            </a:pPr>
            <a:r>
              <a:rPr/>
              <a:t>Variáveis principais:</a:t>
            </a:r>
          </a:p>
          <a:p>
            <a:pPr lvl="0"/>
            <a:r>
              <a:rPr/>
              <a:t>ACT;</a:t>
            </a:r>
          </a:p>
          <a:p>
            <a:pPr lvl="0"/>
            <a:r>
              <a:rPr/>
              <a:t>peak flow;</a:t>
            </a:r>
          </a:p>
          <a:p>
            <a:pPr lvl="0"/>
            <a:r>
              <a:rPr/>
              <a:t>adesão à medicação;</a:t>
            </a:r>
          </a:p>
          <a:p>
            <a:pPr lvl="0"/>
            <a:r>
              <a:rPr/>
              <a:t>exacerbações;</a:t>
            </a:r>
          </a:p>
          <a:p>
            <a:pPr lvl="0"/>
            <a:r>
              <a:rPr/>
              <a:t>idas à urgência;</a:t>
            </a:r>
          </a:p>
          <a:p>
            <a:pPr lvl="0"/>
            <a:r>
              <a:rPr/>
              <a:t>qualidade de vida;</a:t>
            </a:r>
          </a:p>
          <a:p>
            <a:pPr lvl="0"/>
            <a:r>
              <a:rPr/>
              <a:t>satisfação com cuidados.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Demonstração do protótipo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demonstração deve ser guiada pelo percurso do participante:</a:t>
            </a:r>
          </a:p>
          <a:p>
            <a:pPr lvl="0" indent="-342900" marL="342900">
              <a:buAutoNum type="arabicPeriod"/>
            </a:pPr>
            <a:r>
              <a:rPr/>
              <a:t>abrir a aplicação;</a:t>
            </a:r>
          </a:p>
          <a:p>
            <a:pPr lvl="0" indent="-342900" marL="342900">
              <a:buAutoNum type="arabicPeriod"/>
            </a:pPr>
            <a:r>
              <a:rPr/>
              <a:t>aceder ao menu principal;</a:t>
            </a:r>
          </a:p>
          <a:p>
            <a:pPr lvl="0" indent="-342900" marL="342900">
              <a:buAutoNum type="arabicPeriod"/>
            </a:pPr>
            <a:r>
              <a:rPr/>
              <a:t>escolher o registo de peak flow;</a:t>
            </a:r>
          </a:p>
          <a:p>
            <a:pPr lvl="0" indent="-342900" marL="342900">
              <a:buAutoNum type="arabicPeriod"/>
            </a:pPr>
            <a:r>
              <a:rPr/>
              <a:t>introduzir um valor;</a:t>
            </a:r>
          </a:p>
          <a:p>
            <a:pPr lvl="0" indent="-342900" marL="342900">
              <a:buAutoNum type="arabicPeriod"/>
            </a:pPr>
            <a:r>
              <a:rPr/>
              <a:t>observar validação dos dados;</a:t>
            </a:r>
          </a:p>
          <a:p>
            <a:pPr lvl="0" indent="-342900" marL="342900">
              <a:buAutoNum type="arabicPeriod"/>
            </a:pPr>
            <a:r>
              <a:rPr/>
              <a:t>confirmar armazenamento;</a:t>
            </a:r>
          </a:p>
          <a:p>
            <a:pPr lvl="0" indent="-342900" marL="342900">
              <a:buAutoNum type="arabicPeriod"/>
            </a:pPr>
            <a:r>
              <a:rPr/>
              <a:t>visualizar evolução clínica.</a:t>
            </a:r>
          </a:p>
          <a:p>
            <a:pPr lvl="0" indent="0" marL="0">
              <a:buNone/>
            </a:pPr>
            <a:r>
              <a:rPr/>
              <a:t>Link Figma:</a:t>
            </a:r>
          </a:p>
          <a:p>
            <a:pPr lvl="0" indent="0" marL="0">
              <a:buNone/>
            </a:pPr>
            <a:r>
              <a:rPr/>
              <a:t>https://www.figma.com/proto/IWmuWSqPlOIPMdWbxvlKT8/APP-RespiRA?node-id=17-486&amp;p=f&amp;t=qHzF63jdHBbPLuKI-1&amp;scaling=min-zoom&amp;content-scaling=fixed&amp;page-id=0%3A1&amp;starting-point-node-id=17%3A486&amp;show-proto-sidebar=1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Papel da equipa clínica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Identificar potenciais participantes elegíveis.</a:t>
            </a:r>
          </a:p>
          <a:p>
            <a:pPr lvl="0"/>
            <a:r>
              <a:rPr/>
              <a:t>Explicar o estudo e encaminhar para consentimento informado.</a:t>
            </a:r>
          </a:p>
          <a:p>
            <a:pPr lvl="0"/>
            <a:r>
              <a:rPr/>
              <a:t>Apoiar a avaliação basal e o seguimento.</a:t>
            </a:r>
          </a:p>
          <a:p>
            <a:pPr lvl="0"/>
            <a:r>
              <a:rPr/>
              <a:t>Reforçar a importância do registo de sintomas e peak flow.</a:t>
            </a:r>
          </a:p>
          <a:p>
            <a:pPr lvl="0"/>
            <a:r>
              <a:rPr/>
              <a:t>Reportar exacerbações, idas à urgência e eventos relevantes.</a:t>
            </a:r>
          </a:p>
          <a:p>
            <a:pPr lvl="0"/>
            <a:r>
              <a:rPr/>
              <a:t>Garantir coerência e completude dos dados recolhidos.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Segurança, ética 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Consentimento informado antes de qualquer procedimento.</a:t>
            </a:r>
          </a:p>
          <a:p>
            <a:pPr lvl="0"/>
            <a:r>
              <a:rPr/>
              <a:t>Cumprimento da Declaração de Helsínquia.</a:t>
            </a:r>
          </a:p>
          <a:p>
            <a:pPr lvl="0"/>
            <a:r>
              <a:rPr/>
              <a:t>Tratamento de dados conforme RGPD.</a:t>
            </a:r>
          </a:p>
          <a:p>
            <a:pPr lvl="0"/>
            <a:r>
              <a:rPr/>
              <a:t>Dados pseudonimizados através de código único.</a:t>
            </a:r>
          </a:p>
          <a:p>
            <a:pPr lvl="0"/>
            <a:r>
              <a:rPr/>
              <a:t>Acesso restrito aos dados pela equipa autorizada.</a:t>
            </a:r>
          </a:p>
          <a:p>
            <a:pPr lvl="0"/>
            <a:r>
              <a:rPr/>
              <a:t>Possibilidade de retirada do consentimento a qualquer momento.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Mensagens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 RespiRA avalia uma intervenção digital simples e integrada no cuidado habitual.</a:t>
            </a:r>
          </a:p>
          <a:p>
            <a:pPr lvl="0"/>
            <a:r>
              <a:rPr/>
              <a:t>O piloto permite testar aceitabilidade, recolha de dados e sinais preliminares de efeito.</a:t>
            </a:r>
          </a:p>
          <a:p>
            <a:pPr lvl="0"/>
            <a:r>
              <a:rPr/>
              <a:t>Os resultados devem ser interpretados de forma exploratória.</a:t>
            </a:r>
          </a:p>
          <a:p>
            <a:pPr lvl="0"/>
            <a:r>
              <a:rPr/>
              <a:t>A qualidade do recrutamento, seguimento e registo de dados é essencial para a validade do estudo.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Investigator’s Meeting RespiRA</dc:title>
  <dc:creator>Grupo 7 - Turma C</dc:creator>
  <cp:keywords/>
  <dcterms:created xsi:type="dcterms:W3CDTF">2026-05-12T14:24:38Z</dcterms:created>
  <dcterms:modified xsi:type="dcterms:W3CDTF">2026-05-12T14:24:38Z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Ensaio clínico randomizado em cuidados de saúde primários</vt:lpwstr>
  </property>
  <property fmtid="{D5CDD505-2E9C-101B-9397-08002B2CF9AE}" pid="11" name="toc-title">
    <vt:lpwstr>Table of contents</vt:lpwstr>
  </property>
</Properties>
</file>